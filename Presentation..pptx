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1" r:id="rId2"/>
  </p:sldMasterIdLst>
  <p:notesMasterIdLst>
    <p:notesMasterId r:id="rId16"/>
  </p:notesMasterIdLst>
  <p:sldIdLst>
    <p:sldId id="266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7" r:id="rId14"/>
    <p:sldId id="268" r:id="rId15"/>
  </p:sldIdLst>
  <p:sldSz cx="12192000" cy="6858000"/>
  <p:notesSz cx="6858000" cy="12192000"/>
  <p:embeddedFontLs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Raleway" pitchFamily="2" charset="0"/>
      <p:regular r:id="rId21"/>
    </p:embeddedFont>
    <p:embeddedFont>
      <p:font typeface="Raleway Light" pitchFamily="2" charset="0"/>
      <p:regular r:id="rId22"/>
    </p:embeddedFont>
    <p:embeddedFont>
      <p:font typeface="Roboto" panose="02000000000000000000" pitchFamily="2" charset="0"/>
      <p:regular r:id="rId23"/>
    </p:embeddedFont>
    <p:embeddedFont>
      <p:font typeface="Roboto Bold" panose="020B0604020202020204" charset="0"/>
      <p:regular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font" Target="fonts/font5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8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4843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644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274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587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51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975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203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615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64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633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0217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368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389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97280"/>
            <a:ext cx="107899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400" b="1">
                <a:solidFill>
                  <a:srgbClr val="FFFFFF"/>
                </a:solidFill>
              </a:defRPr>
            </a:pPr>
            <a:r>
              <a:rPr kumimoji="0" sz="3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Telecom Customer Churn</a:t>
            </a:r>
            <a:br>
              <a:rPr kumimoji="0" sz="3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3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&amp; Retention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926080"/>
            <a:ext cx="105156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Tx/>
              <a:buFontTx/>
              <a:buNone/>
              <a:tabLst/>
              <a:defRPr sz="2000">
                <a:solidFill>
                  <a:srgbClr val="FFFFFF"/>
                </a:solidFill>
              </a:defRPr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NTI Data Analytics Capstone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Tx/>
              <a:buFontTx/>
              <a:buNone/>
              <a:tabLst/>
              <a:defRPr sz="1700">
                <a:solidFill>
                  <a:srgbClr val="FFFFFF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Ahmed Baligh  |  Karim Sobhy  |  Shahd Waleed  |  Ahmed Yehia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Tx/>
              <a:buFontTx/>
              <a:buNone/>
              <a:tabLst/>
              <a:defRPr sz="1700">
                <a:solidFill>
                  <a:srgbClr val="FFFFFF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Ahmed Mohamed — Documentation &amp;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0007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Telecom Customer Churn &amp; Retention Analysis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982887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Data-Driven Insights for Customer Retention &amp; Revenue Stabilization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2572048"/>
            <a:ext cx="5330989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7,043</a:t>
            </a:r>
            <a:endParaRPr lang="en-US" sz="4250" dirty="0"/>
          </a:p>
        </p:txBody>
      </p:sp>
      <p:sp>
        <p:nvSpPr>
          <p:cNvPr id="5" name="Text 3"/>
          <p:cNvSpPr/>
          <p:nvPr/>
        </p:nvSpPr>
        <p:spPr>
          <a:xfrm>
            <a:off x="661475" y="3324523"/>
            <a:ext cx="533098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Customer Base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199132" y="2572048"/>
            <a:ext cx="5331089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1,869</a:t>
            </a:r>
            <a:endParaRPr lang="en-US" sz="4250" dirty="0"/>
          </a:p>
        </p:txBody>
      </p:sp>
      <p:sp>
        <p:nvSpPr>
          <p:cNvPr id="7" name="Text 5"/>
          <p:cNvSpPr/>
          <p:nvPr/>
        </p:nvSpPr>
        <p:spPr>
          <a:xfrm>
            <a:off x="6199132" y="3324523"/>
            <a:ext cx="533108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Churned Clients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1475" y="3996333"/>
            <a:ext cx="5330989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26.54%</a:t>
            </a:r>
            <a:endParaRPr lang="en-US" sz="4250" dirty="0"/>
          </a:p>
        </p:txBody>
      </p:sp>
      <p:sp>
        <p:nvSpPr>
          <p:cNvPr id="9" name="Text 7"/>
          <p:cNvSpPr/>
          <p:nvPr/>
        </p:nvSpPr>
        <p:spPr>
          <a:xfrm>
            <a:off x="661475" y="4748808"/>
            <a:ext cx="533098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Baseline Churn Rate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99132" y="3996333"/>
            <a:ext cx="5331089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</a:t>
            </a:r>
            <a:endParaRPr lang="en-US" sz="4250" dirty="0"/>
          </a:p>
        </p:txBody>
      </p:sp>
      <p:sp>
        <p:nvSpPr>
          <p:cNvPr id="11" name="Text 9"/>
          <p:cNvSpPr/>
          <p:nvPr/>
        </p:nvSpPr>
        <p:spPr>
          <a:xfrm>
            <a:off x="6199132" y="4748808"/>
            <a:ext cx="533108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Relational Tables Modelled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82" y="5193308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F4444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 in every 4 customers churns.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This analysis identifies the root causes, quantifies the risk, and prescribes high-ROI retention interventions.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73026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Executive Summary &amp; Core KPIs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227" y="1445220"/>
            <a:ext cx="3784803" cy="4539655"/>
          </a:xfrm>
          <a:prstGeom prst="roundRect">
            <a:avLst>
              <a:gd name="adj" fmla="val 2517"/>
            </a:avLst>
          </a:prstGeom>
          <a:solidFill>
            <a:srgbClr val="0F172A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98483" y="1550988"/>
            <a:ext cx="352029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Core Problem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98483" y="1863427"/>
            <a:ext cx="352029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 a </a:t>
            </a:r>
            <a:r>
              <a:rPr lang="en-US" sz="10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26.54% baseline churn rate</a:t>
            </a: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the business is losing 1 in every 4 customers — a structural revenue leak requiring immediate executive intervention.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8483" y="2540695"/>
            <a:ext cx="352029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Primary Drivers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8483" y="2853134"/>
            <a:ext cx="35202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Short-term contract exposure, manual payment friction, and aggressive competitor offers across fiber optic markets.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98483" y="3339902"/>
            <a:ext cx="352029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Opportunity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8483" y="3652341"/>
            <a:ext cx="352029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retention leverage exists in contract conversion programs and automated billing incentives — two levers with quantifiable, near-term ROI.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84784" y="1564283"/>
            <a:ext cx="6951687" cy="99605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812287" y="1715591"/>
            <a:ext cx="657287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F444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26.54%</a:t>
            </a: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— Baseline Churn Rate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812287" y="2028031"/>
            <a:ext cx="657287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Across 7,043 customers, 1,869 have churned. This rate exceeds industry benchmarks and signals systemic retention failure rather than isolated attrition.</a:t>
            </a:r>
            <a:endParaRPr lang="en-US" sz="1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84784" y="2666107"/>
            <a:ext cx="6951687" cy="99605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12287" y="2817416"/>
            <a:ext cx="657287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563E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Contract Structure</a:t>
            </a: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— Root Cause #1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812287" y="3129855"/>
            <a:ext cx="657287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Month-to-Month contracts account for </a:t>
            </a: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88.5% of all churn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Two-Year subscribers churn at only 2.83% — a 15x improvement in retention.</a:t>
            </a:r>
            <a:endParaRPr lang="en-US" sz="10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84784" y="3767931"/>
            <a:ext cx="6951687" cy="99605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12287" y="3919240"/>
            <a:ext cx="657287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F444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45.29%</a:t>
            </a: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— Electronic Check Churn Rate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812287" y="4231680"/>
            <a:ext cx="657287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payment methods create monthly friction. Auto-pay customers churn at 15–17%, nearly 3x lower than Electronic Check users.</a:t>
            </a:r>
            <a:endParaRPr lang="en-US" sz="10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84784" y="4869755"/>
            <a:ext cx="6951687" cy="99605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812287" y="5021064"/>
            <a:ext cx="657287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563E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Value-Added Services</a:t>
            </a: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— Retention Anchor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812287" y="5333504"/>
            <a:ext cx="657287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 Support and Online Security adoption collapse churn from 41%+ down to 14–15%, demonstrating strong product stickiness potential.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27125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Technical Foundation: ETL &amp; Relational Modeling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61475" y="1691382"/>
            <a:ext cx="529318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Cleaning &amp; Transformations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1963341"/>
            <a:ext cx="23147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61475" y="2147292"/>
            <a:ext cx="5293188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2230537"/>
            <a:ext cx="529318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Deduplication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1475" y="2492375"/>
            <a:ext cx="5293188" cy="321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Applied 1:1 primary key uniqueness on </a:t>
            </a:r>
            <a:r>
              <a:rPr lang="en-US" sz="9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CustomerID</a:t>
            </a: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across all dimension tables to eliminate duplicate records.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61475" y="2981424"/>
            <a:ext cx="23147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1475" y="3165376"/>
            <a:ext cx="5293188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0" name="Text 8"/>
          <p:cNvSpPr/>
          <p:nvPr/>
        </p:nvSpPr>
        <p:spPr>
          <a:xfrm>
            <a:off x="661475" y="3248620"/>
            <a:ext cx="529318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Whitespace &amp; Null Imputation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1475" y="3510459"/>
            <a:ext cx="5293188" cy="321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Trimmed text fields and imputed missing </a:t>
            </a:r>
            <a:r>
              <a:rPr lang="en-US" sz="9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Total Charges</a:t>
            </a: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new accounts (</a:t>
            </a:r>
            <a:r>
              <a:rPr lang="en-US" sz="9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Tenure = 0</a:t>
            </a: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with a zero value.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61475" y="3999508"/>
            <a:ext cx="23147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1475" y="4183459"/>
            <a:ext cx="5293188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4" name="Text 12"/>
          <p:cNvSpPr/>
          <p:nvPr/>
        </p:nvSpPr>
        <p:spPr>
          <a:xfrm>
            <a:off x="661475" y="4266704"/>
            <a:ext cx="529318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Type Casting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1475" y="4528542"/>
            <a:ext cx="5293188" cy="163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Converted </a:t>
            </a:r>
            <a:r>
              <a:rPr lang="en-US" sz="9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Total Charges</a:t>
            </a: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Decimal Numeric Float for accurate financial aggregation and analysis.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1475" y="4860131"/>
            <a:ext cx="23147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1475" y="5044083"/>
            <a:ext cx="5293188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8" name="Text 16"/>
          <p:cNvSpPr/>
          <p:nvPr/>
        </p:nvSpPr>
        <p:spPr>
          <a:xfrm>
            <a:off x="661475" y="5127327"/>
            <a:ext cx="529318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1475" y="5389166"/>
            <a:ext cx="5293188" cy="163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Built </a:t>
            </a:r>
            <a:r>
              <a:rPr lang="en-US" sz="9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Tenure_Group</a:t>
            </a: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cohorts: </a:t>
            </a: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0–1 Year, 1–2 Years, 2–4 Years, 4+ Years</a:t>
            </a: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longitudinal churn analysis.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43382" y="1691382"/>
            <a:ext cx="529318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Relational Star Schema — 14 Tables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43382" y="1963341"/>
            <a:ext cx="5293188" cy="2196306"/>
          </a:xfrm>
          <a:prstGeom prst="roundRect">
            <a:avLst>
              <a:gd name="adj" fmla="val 2214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43382" y="2240260"/>
            <a:ext cx="5293188" cy="72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243382" y="2514005"/>
            <a:ext cx="5293188" cy="72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243382" y="2787749"/>
            <a:ext cx="5293188" cy="72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243382" y="3061494"/>
            <a:ext cx="5293188" cy="72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243382" y="3335238"/>
            <a:ext cx="5293188" cy="72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243382" y="3608983"/>
            <a:ext cx="5293188" cy="72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243382" y="3882727"/>
            <a:ext cx="5293188" cy="72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365418" y="2024658"/>
            <a:ext cx="301845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Category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005662" y="2024658"/>
            <a:ext cx="301845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Dimension / Fact Tables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65418" y="2298402"/>
            <a:ext cx="301845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&amp; Geo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005662" y="2298402"/>
            <a:ext cx="301845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Dim_Customers, Dim_Locations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65418" y="2572147"/>
            <a:ext cx="301845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Contract &amp; Billing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005662" y="2572147"/>
            <a:ext cx="301845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Dim_Contracts, Dim_PaymentMethods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65418" y="2845891"/>
            <a:ext cx="301845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Phone &amp; Internet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005662" y="2845891"/>
            <a:ext cx="301845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Dim_PhoneServices, Dim_InternetServices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65418" y="3119636"/>
            <a:ext cx="301845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 &amp; Support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005662" y="3119636"/>
            <a:ext cx="301845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Dim_OnlineSecurity, Dim_TechSupport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65418" y="3393380"/>
            <a:ext cx="301845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Backup &amp; Protection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005662" y="3393380"/>
            <a:ext cx="301845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Dim_OnlineBackup, Dim_DeviceProtection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65418" y="3667125"/>
            <a:ext cx="301845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Streaming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005662" y="3667125"/>
            <a:ext cx="301845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Dim_StreamingTV, Dim_StreamingMovies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65418" y="3940870"/>
            <a:ext cx="301845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Fact Entities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005662" y="3940870"/>
            <a:ext cx="301845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Fact_MonthlyBilling, Fact_CustomerChurn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07480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Root Cause #1: Contract Structure Dynamics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1475" y="1732558"/>
            <a:ext cx="10868745" cy="457597"/>
          </a:xfrm>
          <a:prstGeom prst="roundRect">
            <a:avLst>
              <a:gd name="adj" fmla="val 12144"/>
            </a:avLst>
          </a:prstGeom>
          <a:solidFill>
            <a:srgbClr val="FFB3B4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30" y="1915418"/>
            <a:ext cx="165294" cy="1322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1280" y="1871365"/>
            <a:ext cx="1091627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88.5% of all churn originates from Month-to-Month contracts.</a:t>
            </a: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Long-term contract adoption is the single highest-leverage retention mechanism available.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428280"/>
            <a:ext cx="4665943" cy="3203079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823004" y="2428280"/>
            <a:ext cx="2303802" cy="1065907"/>
          </a:xfrm>
          <a:prstGeom prst="roundRect">
            <a:avLst>
              <a:gd name="adj" fmla="val 521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961609" y="2566888"/>
            <a:ext cx="202659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Month-to-Month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961609" y="2879328"/>
            <a:ext cx="202659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1,655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churned of 3,875 total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F4444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42.71% churn rate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9232570" y="2428280"/>
            <a:ext cx="2303901" cy="1065907"/>
          </a:xfrm>
          <a:prstGeom prst="roundRect">
            <a:avLst>
              <a:gd name="adj" fmla="val 521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371175" y="2566888"/>
            <a:ext cx="202669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One Year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9371175" y="2879328"/>
            <a:ext cx="202669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166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churned of 1,473 total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11.27% churn rate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823004" y="3599954"/>
            <a:ext cx="4713467" cy="1065907"/>
          </a:xfrm>
          <a:prstGeom prst="roundRect">
            <a:avLst>
              <a:gd name="adj" fmla="val 521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961609" y="3738562"/>
            <a:ext cx="443625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Two Year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961609" y="4051002"/>
            <a:ext cx="4436257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48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churned of 1,695 total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563EB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2.83% churn rate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823004" y="4784923"/>
            <a:ext cx="47134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Two-year subscribers churn at </a:t>
            </a: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2.83%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 </a:t>
            </a: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15x improvement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over month-to-month attrition. Contract conversion is the fastest path to structural churn reduction.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75655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Root Cause #2: Payment Method Friction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61475" y="1849338"/>
            <a:ext cx="10868745" cy="412155"/>
          </a:xfrm>
          <a:prstGeom prst="roundRect">
            <a:avLst>
              <a:gd name="adj" fmla="val 12640"/>
            </a:avLst>
          </a:prstGeom>
          <a:solidFill>
            <a:srgbClr val="FFB3B4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495" y="2016423"/>
            <a:ext cx="154976" cy="1240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64491" y="1973263"/>
            <a:ext cx="10951293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Electronic Check users churn at 45.29% — nearly triple the rate of auto-pay users.</a:t>
            </a: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Manual payment execution creates monthly friction that accelerates customer exit decisions.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470646"/>
            <a:ext cx="4381093" cy="3007023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11991" y="2470646"/>
            <a:ext cx="4724480" cy="90745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999509" y="2607370"/>
            <a:ext cx="440024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F444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Critical Risk — Electronic Check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999509" y="2894112"/>
            <a:ext cx="4400241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1,071 churned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45.29% churn rate. Monthly manual login and payment execution generates recurring friction at the billing moment of truth.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11991" y="3471069"/>
            <a:ext cx="4724480" cy="90745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999509" y="3607792"/>
            <a:ext cx="440024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Moderate Risk — Mailed Check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999509" y="3894534"/>
            <a:ext cx="4400241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308 churned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19.11% churn rate. Physical check writing creates effort barriers but at lower frequency than digital friction.</a:t>
            </a:r>
            <a:endParaRPr lang="en-US" sz="9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11991" y="4471491"/>
            <a:ext cx="4724480" cy="90745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999509" y="4608215"/>
            <a:ext cx="440024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Low Risk — Auto-Pay Methods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6999509" y="4894957"/>
            <a:ext cx="4400241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Bank Transfer: </a:t>
            </a: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258 churned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16.71%  |  Credit Card: </a:t>
            </a: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232 churned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15.24%. Automation removes the monthly decision point entirely.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11250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Root Cause #3: Product Attach Rates &amp; Fiber Optic Risk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789212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Internet Service Type vs. Churn Rate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4947"/>
            <a:ext cx="4218378" cy="30364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5270500"/>
            <a:ext cx="527304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F4444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Fiber Optic customers churn at 41.89%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 +22.9 percentage point premium over DSL — driven by aggressive competitor pricing and speed comparisons in the market.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263523" y="1789212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Value-Added Services: Churn Collapse Effect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63523" y="2114947"/>
            <a:ext cx="5273047" cy="1016000"/>
          </a:xfrm>
          <a:prstGeom prst="roundRect">
            <a:avLst>
              <a:gd name="adj" fmla="val 5470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63523" y="2454672"/>
            <a:ext cx="5273047" cy="827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263523" y="2791222"/>
            <a:ext cx="5273047" cy="827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402426" y="2191147"/>
            <a:ext cx="1660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Service Feature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17438" y="2191147"/>
            <a:ext cx="1660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Churn WITH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032451" y="2191147"/>
            <a:ext cx="1660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Churn WITHOUT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347463" y="2191147"/>
            <a:ext cx="1660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Impact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2426" y="2527697"/>
            <a:ext cx="1660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 Support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717438" y="2527697"/>
            <a:ext cx="1660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563EB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15.17%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9032451" y="2527697"/>
            <a:ext cx="1660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EF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41.64%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347463" y="2527697"/>
            <a:ext cx="1660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−63.6% drop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402426" y="2864247"/>
            <a:ext cx="1660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Online Security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717438" y="2864247"/>
            <a:ext cx="1660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563EB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14.61%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032451" y="2864247"/>
            <a:ext cx="1660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EF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41.77%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347463" y="2864247"/>
            <a:ext cx="16600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−65.0% drop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263523" y="3250009"/>
            <a:ext cx="5273047" cy="828080"/>
          </a:xfrm>
          <a:prstGeom prst="roundRect">
            <a:avLst>
              <a:gd name="adj" fmla="val 6711"/>
            </a:avLst>
          </a:prstGeom>
          <a:solidFill>
            <a:srgbClr val="B6FCB8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5778" y="3439220"/>
            <a:ext cx="165294" cy="132259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693328" y="3378299"/>
            <a:ext cx="471098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Key Insight:</a:t>
            </a: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Attaching Tech Support or Online Security collapses churn from 41%+ down to 14–15%. Bundling these features into Fiber Optic plans is the highest-impact product lever available.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2606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Geographic Risk &amp; Primary Churn Drivers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210568"/>
            <a:ext cx="471346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Top Churn Cities — California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536303"/>
            <a:ext cx="3770714" cy="286186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1475" y="4517231"/>
            <a:ext cx="4713467" cy="1689100"/>
          </a:xfrm>
          <a:prstGeom prst="roundRect">
            <a:avLst>
              <a:gd name="adj" fmla="val 3290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1475" y="4856956"/>
            <a:ext cx="4713467" cy="827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61475" y="5193506"/>
            <a:ext cx="4713467" cy="827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61475" y="5530056"/>
            <a:ext cx="4713467" cy="827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61475" y="5866606"/>
            <a:ext cx="4713467" cy="827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800774" y="4593431"/>
            <a:ext cx="1911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City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367300" y="4593431"/>
            <a:ext cx="1911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Churned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933826" y="4593431"/>
            <a:ext cx="1911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Total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00774" y="4929981"/>
            <a:ext cx="1911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Angeles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367300" y="4929981"/>
            <a:ext cx="1911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90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933826" y="4929981"/>
            <a:ext cx="1911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305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00774" y="5266531"/>
            <a:ext cx="1911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San Diego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367300" y="5266531"/>
            <a:ext cx="1911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933826" y="5266531"/>
            <a:ext cx="1911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150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00774" y="5603081"/>
            <a:ext cx="1911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San Francisco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367300" y="5603081"/>
            <a:ext cx="1911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933826" y="5603081"/>
            <a:ext cx="1911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104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00774" y="5939631"/>
            <a:ext cx="1911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Sacramento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367300" y="5939631"/>
            <a:ext cx="1911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933826" y="5939631"/>
            <a:ext cx="1911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108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703943" y="1210568"/>
            <a:ext cx="583252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Primary Attrition Reasons — Client Count</a:t>
            </a:r>
            <a:endParaRPr lang="en-US" sz="130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03943" y="1536303"/>
            <a:ext cx="2863381" cy="1567557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931446" y="1687612"/>
            <a:ext cx="248457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F444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Competitor Pressure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5931446" y="2000052"/>
            <a:ext cx="2484574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Better download speeds: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189 clients lost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Better competitor offers: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140 clients lost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Total: </a:t>
            </a: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329 clients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lost to competitive speed and price positioning.</a:t>
            </a:r>
            <a:endParaRPr lang="en-US" sz="100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73089" y="1536303"/>
            <a:ext cx="2863381" cy="1567557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900592" y="1687612"/>
            <a:ext cx="248457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F444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Support Issues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8900592" y="2000052"/>
            <a:ext cx="2484574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Attitude of support staff: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192 clients lost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Attitude of service provider: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135 clients lost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Total: </a:t>
            </a: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327 clients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lost to preventable service experience failures.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5703943" y="3222923"/>
            <a:ext cx="5832528" cy="828080"/>
          </a:xfrm>
          <a:prstGeom prst="roundRect">
            <a:avLst>
              <a:gd name="adj" fmla="val 6711"/>
            </a:avLst>
          </a:prstGeom>
          <a:solidFill>
            <a:srgbClr val="FCF2B5"/>
          </a:solidFill>
          <a:ln/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6199" y="3412133"/>
            <a:ext cx="165294" cy="132259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133748" y="3351213"/>
            <a:ext cx="52704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Combined, competitor pressure and support attitude failures account for </a:t>
            </a:r>
            <a:r>
              <a:rPr lang="en-US" sz="10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656 churned clients</a:t>
            </a: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35% of total churn — and are directly addressable through targeted interventions.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56357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Interactive Dashboard Architecture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343323"/>
            <a:ext cx="1086874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Power BI Dashboard — Component Overview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61475" y="1742083"/>
            <a:ext cx="5374644" cy="1750219"/>
          </a:xfrm>
          <a:prstGeom prst="roundRect">
            <a:avLst>
              <a:gd name="adj" fmla="val 337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8315" y="1888927"/>
            <a:ext cx="421669" cy="421680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4299" y="2004814"/>
            <a:ext cx="189702" cy="1897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8315" y="2430066"/>
            <a:ext cx="5080964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Top KPI Summary Cards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8315" y="2721273"/>
            <a:ext cx="5080964" cy="624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Base: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7,043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Churned: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1,869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Churn Rate: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26.54%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55576" y="1742083"/>
            <a:ext cx="5374644" cy="1750219"/>
          </a:xfrm>
          <a:prstGeom prst="roundRect">
            <a:avLst>
              <a:gd name="adj" fmla="val 337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02416" y="1888927"/>
            <a:ext cx="421669" cy="421680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8400" y="2004814"/>
            <a:ext cx="189702" cy="1897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02416" y="2430066"/>
            <a:ext cx="5080964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Contract &amp; Payment Analysis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302416" y="2721273"/>
            <a:ext cx="5080964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Bar charts decomposing churn rate by contract type and payment method with absolute volume overlays.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61475" y="3611761"/>
            <a:ext cx="5374644" cy="1542157"/>
          </a:xfrm>
          <a:prstGeom prst="roundRect">
            <a:avLst>
              <a:gd name="adj" fmla="val 382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8315" y="3758605"/>
            <a:ext cx="421669" cy="421680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4299" y="3874492"/>
            <a:ext cx="189702" cy="1897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8315" y="4299744"/>
            <a:ext cx="5080964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Service &amp; Geographic Drill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08315" y="4590951"/>
            <a:ext cx="5080964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Fiber Optic vs. DSL risk comparison, top city churn losses, and primary attrition reason breakdowns.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55576" y="3611761"/>
            <a:ext cx="5374644" cy="1542157"/>
          </a:xfrm>
          <a:prstGeom prst="roundRect">
            <a:avLst>
              <a:gd name="adj" fmla="val 382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302416" y="3758605"/>
            <a:ext cx="421669" cy="421680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8400" y="3874492"/>
            <a:ext cx="189702" cy="18970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02416" y="4299744"/>
            <a:ext cx="5080964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Cross-Filtering Slicers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302416" y="4590951"/>
            <a:ext cx="5080964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Dynamic filters: Contract Type, Senior Citizen, Partner, City — enabling real-time risk profile isolation.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61475" y="5288260"/>
            <a:ext cx="10868745" cy="713284"/>
          </a:xfrm>
          <a:prstGeom prst="roundRect">
            <a:avLst>
              <a:gd name="adj" fmla="val 8278"/>
            </a:avLst>
          </a:prstGeom>
          <a:solidFill>
            <a:srgbClr val="E1E1EA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965" y="5480645"/>
            <a:ext cx="175712" cy="14049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18167" y="5442843"/>
            <a:ext cx="10271563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Core Dashboard Value:</a:t>
            </a: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Enables dynamic cross-filtering to isolate specific risk profiles in real time — for example, filtering married users on monthly contracts to evaluate price sensitivities and model targeted intervention impact.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94904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Actionable Strategic Recommendations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919982"/>
            <a:ext cx="5381490" cy="1768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53004" y="2010271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812780" y="2441674"/>
            <a:ext cx="507888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Contract Migration Program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12780" y="2711847"/>
            <a:ext cx="5078881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spcAft>
                <a:spcPts val="450"/>
              </a:spcAft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Offer a </a:t>
            </a: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20% discount for 2 months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or free speed upgrades to Month-to-Month subscribers converting to 1- or 2-year plans.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Target: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Transitioning 20% of monthly users saves hundreds of clients quarterly and structurally compresses the 42.71% churn rate.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8730" y="1919982"/>
            <a:ext cx="5381490" cy="176867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40259" y="2010271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6300035" y="2441674"/>
            <a:ext cx="507888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Auto-Pay Discount ($5 Credit)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300035" y="2711847"/>
            <a:ext cx="5078881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spcAft>
                <a:spcPts val="450"/>
              </a:spcAft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 a </a:t>
            </a: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$5/month billing credit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users switching from Electronic Check to Direct Debit or Credit Card Auto-Pay.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Target: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Directly tackles the </a:t>
            </a:r>
            <a:r>
              <a:rPr lang="en-US" sz="1000" dirty="0">
                <a:solidFill>
                  <a:srgbClr val="EF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45.29% Electronic Check churn rate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the single highest-risk payment segment.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794423"/>
            <a:ext cx="5381490" cy="176867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253004" y="3884712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812780" y="4316115"/>
            <a:ext cx="507888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Support &amp; Security Value Bundles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812780" y="4586288"/>
            <a:ext cx="5078881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spcAft>
                <a:spcPts val="450"/>
              </a:spcAft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Package </a:t>
            </a: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Tech Support and Online Security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directly into standard Fiber Optic plans at no additional friction cost.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Target: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Caps Fiber Optic churn below 15%, down from the current 41.89% — a potential 63–65% attrition reduction.</a:t>
            </a:r>
            <a:endParaRPr lang="en-US" sz="1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8730" y="3794423"/>
            <a:ext cx="5381490" cy="176867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740259" y="3884712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550" dirty="0"/>
          </a:p>
        </p:txBody>
      </p:sp>
      <p:sp>
        <p:nvSpPr>
          <p:cNvPr id="17" name="Text 11"/>
          <p:cNvSpPr/>
          <p:nvPr/>
        </p:nvSpPr>
        <p:spPr>
          <a:xfrm>
            <a:off x="6300035" y="4316115"/>
            <a:ext cx="507888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Regional Support Audits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6300035" y="4586288"/>
            <a:ext cx="5078881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spcAft>
                <a:spcPts val="450"/>
              </a:spcAft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Conduct staff retrainings and network audits in </a:t>
            </a: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Los Angeles, San Diego, and San Francisco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the top three churn cities.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Target: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Addresses service attitude complaints from </a:t>
            </a: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327 total clients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the second-largest driver of attrition after competitor pressure.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16000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Expected Strategic ROI &amp; Next Steps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61475" y="1580257"/>
            <a:ext cx="5850684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Projected Impact — Retention Uplift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539043" y="1910060"/>
            <a:ext cx="4095449" cy="382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&lt;18%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61475" y="2410718"/>
            <a:ext cx="5850684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Projected Churn Rate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61475" y="2672556"/>
            <a:ext cx="585068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Down from 26.54% baseline through contract conversion + auto-pay adoption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539043" y="3049885"/>
            <a:ext cx="4095449" cy="382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400+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61475" y="3550543"/>
            <a:ext cx="5850684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Accounts Retained Annually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1475" y="3812381"/>
            <a:ext cx="585068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Protecting significant recurring revenue from preventable attrition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61475" y="4060924"/>
            <a:ext cx="5850684" cy="1689993"/>
          </a:xfrm>
          <a:prstGeom prst="roundRect">
            <a:avLst>
              <a:gd name="adj" fmla="val 2877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1475" y="4337844"/>
            <a:ext cx="5850684" cy="72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61475" y="4769048"/>
            <a:ext cx="5850684" cy="72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61475" y="5042793"/>
            <a:ext cx="5850684" cy="72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61475" y="5473998"/>
            <a:ext cx="5850684" cy="72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84305" y="4122241"/>
            <a:ext cx="232374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Intervention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29836" y="4122241"/>
            <a:ext cx="232374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Current Rate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75368" y="4122241"/>
            <a:ext cx="232374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Target Rate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84305" y="4395986"/>
            <a:ext cx="1714159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Contract Conversion (20% of M2M)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29836" y="4395986"/>
            <a:ext cx="232374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EF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42.71%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75368" y="4395986"/>
            <a:ext cx="232374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2563E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~30%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4305" y="4827191"/>
            <a:ext cx="232374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Auto-Pay Migration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29836" y="4827191"/>
            <a:ext cx="232374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EF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45.29%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75368" y="4827191"/>
            <a:ext cx="232374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2563E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~15–17%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84305" y="5100935"/>
            <a:ext cx="1714159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Fiber Optic Bundle (Tech + Security)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29836" y="5100935"/>
            <a:ext cx="232374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EF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41.89%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75368" y="5100935"/>
            <a:ext cx="232374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2563E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&lt;15%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84305" y="5532140"/>
            <a:ext cx="232374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Regional Support Audit (3 cities)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29836" y="5532140"/>
            <a:ext cx="232374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EF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29–33%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75368" y="5532140"/>
            <a:ext cx="232374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2563E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Below Avg.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717537" y="1499295"/>
            <a:ext cx="4902276" cy="4342705"/>
          </a:xfrm>
          <a:prstGeom prst="roundRect">
            <a:avLst>
              <a:gd name="adj" fmla="val 1919"/>
            </a:avLst>
          </a:prstGeom>
          <a:solidFill>
            <a:srgbClr val="0F172A">
              <a:alpha val="9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833223" y="1580257"/>
            <a:ext cx="4670903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Immediate Next Steps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33223" y="1852216"/>
            <a:ext cx="260443" cy="260449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76580" y="1873895"/>
            <a:ext cx="173628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174626" y="1892002"/>
            <a:ext cx="4329500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Executive Budget Presentation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74626" y="2153841"/>
            <a:ext cx="432950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 the retention campaign budget and projected ROI to executive leadership for approval and resource allocation.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833223" y="2630785"/>
            <a:ext cx="260443" cy="260449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76580" y="2652464"/>
            <a:ext cx="173628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7174626" y="2670572"/>
            <a:ext cx="4329500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Auto-Pay Credit Deployment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174626" y="2932410"/>
            <a:ext cx="432950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 the $5/month auto-pay credit incentive directly in the customer billing portal with in-app prompts targeting Electronic Check users.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833223" y="3409355"/>
            <a:ext cx="260443" cy="260449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76580" y="3431034"/>
            <a:ext cx="173628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7174626" y="3449141"/>
            <a:ext cx="4329500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Regional Retention Launch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174626" y="3710980"/>
            <a:ext cx="432950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Launch targeted contract migration and service bundle offers in Los Angeles, San Diego, San Francisco, and Sacramento — the top 4 churn cities.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142B4A"/>
                </a:solidFill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142B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9. Team Roles &amp;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142B4A"/>
                </a:solidFill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42B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Ahmed Baligh — Data Cleaning &amp; Relational Modeling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A646E"/>
                </a:solidFill>
              </a:defRPr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5A646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Power Query cleaning, normalization, and the 14-table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84832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142B4A"/>
                </a:solidFill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42B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Karim Sobhy — Transformation, Modeling &amp; Pivot Analysis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A646E"/>
                </a:solidFill>
              </a:defRPr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5A646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transformation, Power Pivot relationships, and Pivot Table analysis.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26664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142B4A"/>
                </a:solidFill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42B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Shahd Waleed — Dashboard Design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A646E"/>
                </a:solidFill>
              </a:defRPr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5A646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KPI cards, charts, slicers, and interactive dashboard structure.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68496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142B4A"/>
                </a:solidFill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42B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Ahmed Yehia — Insights &amp; Business Analysis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A646E"/>
                </a:solidFill>
              </a:defRPr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5A646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Interpreting churn patterns and translating findings into business insights.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91032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142B4A"/>
                </a:solidFill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42B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Ahmed Mohamed — Documentation &amp; Presentation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50">
                <a:solidFill>
                  <a:srgbClr val="5A646E"/>
                </a:solidFill>
              </a:defRPr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5A646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Final documentation, presentation structure, slide preparation, and project presentation.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142B4A"/>
                </a:solidFill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142B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900">
                <a:solidFill>
                  <a:srgbClr val="5A646E"/>
                </a:solidFill>
              </a:defRPr>
            </a:pPr>
            <a:r>
              <a:rPr kumimoji="0" sz="1900" b="0" i="0" u="none" strike="noStrike" kern="1200" cap="none" spc="0" normalizeH="0" baseline="0" noProof="0">
                <a:ln>
                  <a:noFill/>
                </a:ln>
                <a:solidFill>
                  <a:srgbClr val="5A646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project transformed raw customer data into a structured analytical model.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900">
                <a:solidFill>
                  <a:srgbClr val="5A646E"/>
                </a:solidFill>
              </a:defRPr>
            </a:pPr>
            <a:r>
              <a:rPr kumimoji="0" sz="1900" b="0" i="0" u="none" strike="noStrike" kern="1200" cap="none" spc="0" normalizeH="0" baseline="0" noProof="0">
                <a:ln>
                  <a:noFill/>
                </a:ln>
                <a:solidFill>
                  <a:srgbClr val="5A646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analysis identified the main factors associated with churn.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900">
                <a:solidFill>
                  <a:srgbClr val="5A646E"/>
                </a:solidFill>
              </a:defRPr>
            </a:pPr>
            <a:r>
              <a:rPr kumimoji="0" sz="1900" b="0" i="0" u="none" strike="noStrike" kern="1200" cap="none" spc="0" normalizeH="0" baseline="0" noProof="0">
                <a:ln>
                  <a:noFill/>
                </a:ln>
                <a:solidFill>
                  <a:srgbClr val="5A646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findings were converted into practical retention recommendations.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900">
                <a:solidFill>
                  <a:srgbClr val="5A646E"/>
                </a:solidFill>
              </a:defRPr>
            </a:pPr>
            <a:r>
              <a:rPr kumimoji="0" sz="1900" b="0" i="0" u="none" strike="noStrike" kern="1200" cap="none" spc="0" normalizeH="0" baseline="0" noProof="0">
                <a:ln>
                  <a:noFill/>
                </a:ln>
                <a:solidFill>
                  <a:srgbClr val="5A646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1528</Words>
  <Application>Microsoft Office PowerPoint</Application>
  <PresentationFormat>Widescreen</PresentationFormat>
  <Paragraphs>214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Calibri</vt:lpstr>
      <vt:lpstr>Roboto Bold</vt:lpstr>
      <vt:lpstr>Arial</vt:lpstr>
      <vt:lpstr>Roboto</vt:lpstr>
      <vt:lpstr>Raleway Light</vt:lpstr>
      <vt:lpstr>Consolas</vt:lpstr>
      <vt:lpstr>Raleway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Ahmed Baligh Hamdy</cp:lastModifiedBy>
  <cp:revision>3</cp:revision>
  <dcterms:created xsi:type="dcterms:W3CDTF">2026-08-07T18:07:35Z</dcterms:created>
  <dcterms:modified xsi:type="dcterms:W3CDTF">2026-08-08T06:19:59Z</dcterms:modified>
</cp:coreProperties>
</file>