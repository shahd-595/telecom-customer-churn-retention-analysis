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42.71</c:v>
                </c:pt>
                <c:pt idx="1">
                  <c:v>11.27</c:v>
                </c:pt>
                <c:pt idx="2">
                  <c:v>2.83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Electronic Check</c:v>
                </c:pt>
                <c:pt idx="1">
                  <c:v>Mailed Check</c:v>
                </c:pt>
                <c:pt idx="2">
                  <c:v>Bank Transfer</c:v>
                </c:pt>
                <c:pt idx="3">
                  <c:v>Credit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45.29</c:v>
                </c:pt>
                <c:pt idx="1">
                  <c:v>19.11</c:v>
                </c:pt>
                <c:pt idx="2">
                  <c:v>16.71</c:v>
                </c:pt>
                <c:pt idx="3">
                  <c:v>15.24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Telecom Customer Churn</a:t>
            </a:r>
            <a:br/>
            <a:r>
              <a:t>&amp; Retention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926080"/>
            <a:ext cx="10515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NTI Data Analytics Capstone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Ahmed Baligh  |  Karim Sobhy  |  Shahd Waleed  |  Ahmed Yehia</a:t>
            </a:r>
          </a:p>
          <a:p>
            <a:pPr>
              <a:spcAft>
                <a:spcPts val="1400"/>
              </a:spcAft>
              <a:defRPr sz="1700">
                <a:solidFill>
                  <a:srgbClr val="FFFFFF"/>
                </a:solidFill>
              </a:defRPr>
            </a:pPr>
            <a:r>
              <a:t>Ahmed Mohamed — Documentation &amp;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Analyze customer churn in a telecommunications company.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Identify the main factors associated with customer attrition.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Provide data-driven recommendations to improve 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2. Dataset &amp; Key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Total Customers: 7,043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Churned Customers: 1,869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Overall Churn Rate: 26.54%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Relational Model: 14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3. Data Cleaning &amp;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Power Query was used to clean and standardize the raw dataset.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Duplicates, null values, and data-type issues were addressed.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The dataset was normalized into 14 related tables using CustomerID.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Power Pivot was used to build the relational data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4.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Pivot Tables were used to summarize customer behavior.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Churn was analyzed by contract type, payment method, services, and tenure.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Slicers and filters enabled interactive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5. Key Finding — Contract Type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234440"/>
          <a:ext cx="6675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55448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5A646E"/>
                </a:solidFill>
              </a:defRPr>
            </a:pPr>
            <a:r>
              <a:t>Month-to-month: 42.71%</a:t>
            </a:r>
          </a:p>
          <a:p>
            <a:pPr>
              <a:spcAft>
                <a:spcPts val="1200"/>
              </a:spcAft>
              <a:defRPr sz="1700">
                <a:solidFill>
                  <a:srgbClr val="5A646E"/>
                </a:solidFill>
              </a:defRPr>
            </a:pPr>
            <a:r>
              <a:t>One year: 11.27%</a:t>
            </a:r>
          </a:p>
          <a:p>
            <a:pPr>
              <a:spcAft>
                <a:spcPts val="1200"/>
              </a:spcAft>
              <a:defRPr sz="1700">
                <a:solidFill>
                  <a:srgbClr val="5A646E"/>
                </a:solidFill>
              </a:defRPr>
            </a:pPr>
            <a:r>
              <a:t>Two year: 2.83%</a:t>
            </a:r>
          </a:p>
          <a:p>
            <a:pPr>
              <a:spcAft>
                <a:spcPts val="1200"/>
              </a:spcAft>
              <a:defRPr sz="1700">
                <a:solidFill>
                  <a:srgbClr val="5A646E"/>
                </a:solidFill>
              </a:defRPr>
            </a:pPr>
            <a:r>
              <a:t>Longer-term contracts show much stronger retention.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6. Key Finding — Payment Method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34440"/>
          <a:ext cx="6858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508760"/>
            <a:ext cx="39319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5A646E"/>
                </a:solidFill>
              </a:defRPr>
            </a:pPr>
            <a:r>
              <a:t>Electronic Check: 45.29%</a:t>
            </a:r>
          </a:p>
          <a:p>
            <a:pPr>
              <a:spcAft>
                <a:spcPts val="1200"/>
              </a:spcAft>
              <a:defRPr sz="1600">
                <a:solidFill>
                  <a:srgbClr val="5A646E"/>
                </a:solidFill>
              </a:defRPr>
            </a:pPr>
            <a:r>
              <a:t>Mailed Check: 19.11%</a:t>
            </a:r>
          </a:p>
          <a:p>
            <a:pPr>
              <a:spcAft>
                <a:spcPts val="1200"/>
              </a:spcAft>
              <a:defRPr sz="1600">
                <a:solidFill>
                  <a:srgbClr val="5A646E"/>
                </a:solidFill>
              </a:defRPr>
            </a:pPr>
            <a:r>
              <a:t>Bank Transfer (Automatic): 16.71%</a:t>
            </a:r>
          </a:p>
          <a:p>
            <a:pPr>
              <a:spcAft>
                <a:spcPts val="1200"/>
              </a:spcAft>
              <a:defRPr sz="1600">
                <a:solidFill>
                  <a:srgbClr val="5A646E"/>
                </a:solidFill>
              </a:defRPr>
            </a:pPr>
            <a:r>
              <a:t>Credit Card (Automatic): 15.24%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7. Key Finding — Additional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5A646E"/>
                </a:solidFill>
              </a:defRPr>
            </a:pPr>
            <a:r>
              <a:t>Tech Support: churn falls from 41.64% without support to 15.17% with support.</a:t>
            </a:r>
          </a:p>
          <a:p>
            <a:pPr>
              <a:spcAft>
                <a:spcPts val="1200"/>
              </a:spcAft>
              <a:defRPr sz="1800">
                <a:solidFill>
                  <a:srgbClr val="5A646E"/>
                </a:solidFill>
              </a:defRPr>
            </a:pPr>
            <a:r>
              <a:t>Online Security: churn falls from 41.77% without security to 14.61% with security.</a:t>
            </a:r>
          </a:p>
          <a:p>
            <a:pPr>
              <a:spcAft>
                <a:spcPts val="1200"/>
              </a:spcAft>
              <a:defRPr sz="1800">
                <a:solidFill>
                  <a:srgbClr val="5A646E"/>
                </a:solidFill>
              </a:defRPr>
            </a:pPr>
            <a:r>
              <a:t>Additional services are associated with stronger customer retention.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8.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5A646E"/>
                </a:solidFill>
              </a:defRPr>
            </a:pPr>
            <a:r>
              <a:t>Encourage month-to-month customers to move to longer-term contracts.</a:t>
            </a:r>
          </a:p>
          <a:p>
            <a:pPr>
              <a:spcAft>
                <a:spcPts val="1200"/>
              </a:spcAft>
              <a:defRPr sz="1800">
                <a:solidFill>
                  <a:srgbClr val="5A646E"/>
                </a:solidFill>
              </a:defRPr>
            </a:pPr>
            <a:r>
              <a:t>Promote automatic payment methods instead of Electronic Check.</a:t>
            </a:r>
          </a:p>
          <a:p>
            <a:pPr>
              <a:spcAft>
                <a:spcPts val="1200"/>
              </a:spcAft>
              <a:defRPr sz="1800">
                <a:solidFill>
                  <a:srgbClr val="5A646E"/>
                </a:solidFill>
              </a:defRPr>
            </a:pPr>
            <a:r>
              <a:t>Bundle Tech Support and Online Security with internet plans.</a:t>
            </a:r>
          </a:p>
          <a:p>
            <a:pPr>
              <a:spcAft>
                <a:spcPts val="1200"/>
              </a:spcAft>
              <a:defRPr sz="1800">
                <a:solidFill>
                  <a:srgbClr val="5A646E"/>
                </a:solidFill>
              </a:defRPr>
            </a:pPr>
            <a:r>
              <a:t>Improve service quality and customer support in high-churn areas.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9. Team Roles &amp;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A"/>
                </a:solidFill>
              </a:defRPr>
            </a:pPr>
            <a:r>
              <a:t>Ahmed Baligh — Data Cleaning &amp; Relational Modeling</a:t>
            </a:r>
          </a:p>
          <a:p>
            <a:pPr>
              <a:defRPr sz="1250">
                <a:solidFill>
                  <a:srgbClr val="5A646E"/>
                </a:solidFill>
              </a:defRPr>
            </a:pPr>
            <a:r>
              <a:t>Power Query cleaning, normalization, and the 14-table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84832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A"/>
                </a:solidFill>
              </a:defRPr>
            </a:pPr>
            <a:r>
              <a:t>Karim Sobhy — Transformation, Modeling &amp; Pivot Analysis</a:t>
            </a:r>
          </a:p>
          <a:p>
            <a:pPr>
              <a:defRPr sz="1250">
                <a:solidFill>
                  <a:srgbClr val="5A646E"/>
                </a:solidFill>
              </a:defRPr>
            </a:pPr>
            <a:r>
              <a:t>Data transformation, Power Pivot relationships, and Pivot Table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26664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A"/>
                </a:solidFill>
              </a:defRPr>
            </a:pPr>
            <a:r>
              <a:t>Shahd Waleed — Dashboard Design</a:t>
            </a:r>
          </a:p>
          <a:p>
            <a:pPr>
              <a:defRPr sz="1250">
                <a:solidFill>
                  <a:srgbClr val="5A646E"/>
                </a:solidFill>
              </a:defRPr>
            </a:pPr>
            <a:r>
              <a:t>KPI cards, charts, slicers, and interactive dashboard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68496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A"/>
                </a:solidFill>
              </a:defRPr>
            </a:pPr>
            <a:r>
              <a:t>Ahmed Yehia — Insights &amp; Business Analysis</a:t>
            </a:r>
          </a:p>
          <a:p>
            <a:pPr>
              <a:defRPr sz="1250">
                <a:solidFill>
                  <a:srgbClr val="5A646E"/>
                </a:solidFill>
              </a:defRPr>
            </a:pPr>
            <a:r>
              <a:t>Interpreting churn patterns and translating findings into business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1032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B4A"/>
                </a:solidFill>
              </a:defRPr>
            </a:pPr>
            <a:r>
              <a:t>Ahmed Mohamed — Documentation &amp; Presentation</a:t>
            </a:r>
          </a:p>
          <a:p>
            <a:pPr>
              <a:defRPr sz="1250">
                <a:solidFill>
                  <a:srgbClr val="5A646E"/>
                </a:solidFill>
              </a:defRPr>
            </a:pPr>
            <a:r>
              <a:t>Final documentation, presentation structure, slide preparation, and project 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B4A"/>
                </a:solidFill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The project transformed raw customer data into a structured analytical model.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The analysis identified the main factors associated with churn.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The findings were converted into practical retention recommendations.</a:t>
            </a:r>
          </a:p>
          <a:p>
            <a:pPr>
              <a:spcAft>
                <a:spcPts val="1200"/>
              </a:spcAft>
              <a:defRPr sz="1900">
                <a:solidFill>
                  <a:srgbClr val="5A646E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